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758" r:id="rId4"/>
  </p:sldMasterIdLst>
  <p:notesMasterIdLst>
    <p:notesMasterId r:id="rId25"/>
  </p:notesMasterIdLst>
  <p:handoutMasterIdLst>
    <p:handoutMasterId r:id="rId26"/>
  </p:handoutMasterIdLst>
  <p:sldIdLst>
    <p:sldId id="4059" r:id="rId5"/>
    <p:sldId id="4091" r:id="rId6"/>
    <p:sldId id="4089" r:id="rId7"/>
    <p:sldId id="4102" r:id="rId8"/>
    <p:sldId id="4092" r:id="rId9"/>
    <p:sldId id="4093" r:id="rId10"/>
    <p:sldId id="4094" r:id="rId11"/>
    <p:sldId id="4095" r:id="rId12"/>
    <p:sldId id="4104" r:id="rId13"/>
    <p:sldId id="4105" r:id="rId14"/>
    <p:sldId id="4103" r:id="rId15"/>
    <p:sldId id="4108" r:id="rId16"/>
    <p:sldId id="4109" r:id="rId17"/>
    <p:sldId id="4110" r:id="rId18"/>
    <p:sldId id="4099" r:id="rId19"/>
    <p:sldId id="4101" r:id="rId20"/>
    <p:sldId id="4107" r:id="rId21"/>
    <p:sldId id="4111" r:id="rId22"/>
    <p:sldId id="4112" r:id="rId23"/>
    <p:sldId id="4060" r:id="rId24"/>
  </p:sldIdLst>
  <p:sldSz cx="12192000" cy="6858000"/>
  <p:notesSz cx="6858000" cy="9144000"/>
  <p:custDataLst>
    <p:tags r:id="rId2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591F"/>
    <a:srgbClr val="B43C14"/>
    <a:srgbClr val="890078"/>
    <a:srgbClr val="970032"/>
    <a:srgbClr val="C80000"/>
    <a:srgbClr val="FFB414"/>
    <a:srgbClr val="FF5800"/>
    <a:srgbClr val="D9D9D9"/>
    <a:srgbClr val="FFD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D9E8BB-6F4C-4553-AC0D-7430DE281DC5}" v="1" dt="2020-10-16T09:18:00.3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30" autoAdjust="0"/>
    <p:restoredTop sz="94627" autoAdjust="0"/>
  </p:normalViewPr>
  <p:slideViewPr>
    <p:cSldViewPr snapToGrid="0" snapToObjects="1">
      <p:cViewPr varScale="1">
        <p:scale>
          <a:sx n="156" d="100"/>
          <a:sy n="156" d="100"/>
        </p:scale>
        <p:origin x="76" y="516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4" d="100"/>
          <a:sy n="94" d="100"/>
        </p:scale>
        <p:origin x="375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gs" Target="tags/tag1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CF67937-71EE-2E40-8930-C43612F7F1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1CEBCD-A3C6-9649-BD1D-9B0E3F0C060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64E38C-1C71-AB4B-8920-1E5C4A1280D0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B0E328-65A8-6B4F-9EF6-C5128DED21E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BD4108-5533-5540-8846-3092E2C7CF3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25F66B-C815-8849-811C-F1A4AB94F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9102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323134-CEB1-9C43-B6DE-74B10BFB1C0A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F17A60-5211-564C-AE51-C5EE6D827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717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White wave cover 1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12218648" y="576694"/>
            <a:ext cx="155791" cy="5275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/>
          <p:cNvSpPr/>
          <p:nvPr userDrawn="1"/>
        </p:nvSpPr>
        <p:spPr>
          <a:xfrm>
            <a:off x="12218648" y="1153388"/>
            <a:ext cx="155791" cy="52753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/>
          <p:cNvSpPr/>
          <p:nvPr userDrawn="1"/>
        </p:nvSpPr>
        <p:spPr>
          <a:xfrm>
            <a:off x="12215747" y="2306776"/>
            <a:ext cx="155791" cy="5275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 userDrawn="1"/>
        </p:nvSpPr>
        <p:spPr>
          <a:xfrm>
            <a:off x="12215747" y="2883470"/>
            <a:ext cx="155791" cy="52753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 userDrawn="1"/>
        </p:nvSpPr>
        <p:spPr>
          <a:xfrm>
            <a:off x="12215747" y="3460164"/>
            <a:ext cx="155791" cy="52753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/>
          <p:cNvSpPr/>
          <p:nvPr userDrawn="1"/>
        </p:nvSpPr>
        <p:spPr>
          <a:xfrm>
            <a:off x="12215747" y="4036858"/>
            <a:ext cx="155791" cy="527538"/>
          </a:xfrm>
          <a:prstGeom prst="rect">
            <a:avLst/>
          </a:prstGeom>
          <a:solidFill>
            <a:srgbClr val="006EC6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/>
          <p:cNvSpPr/>
          <p:nvPr userDrawn="1"/>
        </p:nvSpPr>
        <p:spPr>
          <a:xfrm>
            <a:off x="12215747" y="1730082"/>
            <a:ext cx="155791" cy="527538"/>
          </a:xfrm>
          <a:prstGeom prst="rect">
            <a:avLst/>
          </a:prstGeom>
          <a:solidFill>
            <a:srgbClr val="890078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/>
          <p:cNvSpPr/>
          <p:nvPr userDrawn="1"/>
        </p:nvSpPr>
        <p:spPr>
          <a:xfrm>
            <a:off x="12382950" y="576694"/>
            <a:ext cx="155791" cy="527538"/>
          </a:xfrm>
          <a:prstGeom prst="rect">
            <a:avLst/>
          </a:prstGeom>
          <a:solidFill>
            <a:srgbClr val="A50646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/>
          <p:cNvSpPr/>
          <p:nvPr userDrawn="1"/>
        </p:nvSpPr>
        <p:spPr>
          <a:xfrm>
            <a:off x="12382950" y="1153388"/>
            <a:ext cx="155791" cy="527538"/>
          </a:xfrm>
          <a:prstGeom prst="rect">
            <a:avLst/>
          </a:prstGeom>
          <a:solidFill>
            <a:srgbClr val="9E120E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/>
          <p:cNvSpPr/>
          <p:nvPr userDrawn="1"/>
        </p:nvSpPr>
        <p:spPr>
          <a:xfrm>
            <a:off x="12380049" y="2306776"/>
            <a:ext cx="155791" cy="527538"/>
          </a:xfrm>
          <a:prstGeom prst="rect">
            <a:avLst/>
          </a:prstGeom>
          <a:solidFill>
            <a:srgbClr val="E6A61C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/>
          <p:cNvSpPr/>
          <p:nvPr userDrawn="1"/>
        </p:nvSpPr>
        <p:spPr>
          <a:xfrm>
            <a:off x="12380049" y="2883470"/>
            <a:ext cx="155791" cy="527538"/>
          </a:xfrm>
          <a:prstGeom prst="rect">
            <a:avLst/>
          </a:prstGeom>
          <a:solidFill>
            <a:srgbClr val="05732A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/>
          <p:cNvSpPr/>
          <p:nvPr userDrawn="1"/>
        </p:nvSpPr>
        <p:spPr>
          <a:xfrm>
            <a:off x="12380049" y="3460164"/>
            <a:ext cx="155791" cy="527538"/>
          </a:xfrm>
          <a:prstGeom prst="rect">
            <a:avLst/>
          </a:prstGeom>
          <a:solidFill>
            <a:srgbClr val="005F62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/>
          <p:cNvSpPr/>
          <p:nvPr userDrawn="1"/>
        </p:nvSpPr>
        <p:spPr>
          <a:xfrm>
            <a:off x="12380049" y="4036858"/>
            <a:ext cx="155791" cy="527538"/>
          </a:xfrm>
          <a:prstGeom prst="rect">
            <a:avLst/>
          </a:prstGeom>
          <a:solidFill>
            <a:srgbClr val="055082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/>
          <p:cNvSpPr/>
          <p:nvPr userDrawn="1"/>
        </p:nvSpPr>
        <p:spPr>
          <a:xfrm>
            <a:off x="12380049" y="1730082"/>
            <a:ext cx="155791" cy="527538"/>
          </a:xfrm>
          <a:prstGeom prst="rect">
            <a:avLst/>
          </a:prstGeom>
          <a:solidFill>
            <a:srgbClr val="5A1455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/>
          <p:cNvSpPr/>
          <p:nvPr userDrawn="1"/>
        </p:nvSpPr>
        <p:spPr>
          <a:xfrm>
            <a:off x="12218648" y="0"/>
            <a:ext cx="155791" cy="52753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/>
          <p:cNvSpPr/>
          <p:nvPr userDrawn="1"/>
        </p:nvSpPr>
        <p:spPr>
          <a:xfrm>
            <a:off x="12382950" y="0"/>
            <a:ext cx="155791" cy="527538"/>
          </a:xfrm>
          <a:prstGeom prst="rect">
            <a:avLst/>
          </a:prstGeom>
          <a:solidFill>
            <a:srgbClr val="CC460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17A9DE5B-A4E0-A44F-B6BF-BBC6726F493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8174" y="2275220"/>
            <a:ext cx="10848975" cy="1363399"/>
          </a:xfrm>
          <a:prstGeom prst="rect">
            <a:avLst/>
          </a:prstGeom>
        </p:spPr>
        <p:txBody>
          <a:bodyPr anchor="b"/>
          <a:lstStyle>
            <a:lvl1pPr>
              <a:defRPr sz="4800" b="1" i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 dirty="0"/>
              <a:t>Headline text – Cover slide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4CEE6339-B898-8448-83C0-DD2C637A102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8174" y="3825875"/>
            <a:ext cx="10848975" cy="738188"/>
          </a:xfrm>
          <a:prstGeom prst="rect">
            <a:avLst/>
          </a:prstGeom>
        </p:spPr>
        <p:txBody>
          <a:bodyPr/>
          <a:lstStyle>
            <a:lvl1pPr>
              <a:defRPr sz="2800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 dirty="0"/>
              <a:t>Subtitle text</a:t>
            </a:r>
          </a:p>
        </p:txBody>
      </p:sp>
    </p:spTree>
    <p:extLst>
      <p:ext uri="{BB962C8B-B14F-4D97-AF65-F5344CB8AC3E}">
        <p14:creationId xmlns:p14="http://schemas.microsoft.com/office/powerpoint/2010/main" val="272768874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665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idx="1"/>
          </p:nvPr>
        </p:nvSpPr>
        <p:spPr>
          <a:xfrm>
            <a:off x="691376" y="1524000"/>
            <a:ext cx="10783229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91376" y="390719"/>
            <a:ext cx="10783229" cy="99834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A9A54C-F7AC-FB49-AB30-4D18871E4C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E23A24-5E29-4F5A-B780-9568AE9A51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35036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gradient wav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2FD63BF-675F-584D-9FB3-95853023BA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5054" y="5364480"/>
            <a:ext cx="12216087" cy="149352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91B1B2D-7418-D841-88B9-B399E71E4DA7}"/>
              </a:ext>
            </a:extLst>
          </p:cNvPr>
          <p:cNvSpPr/>
          <p:nvPr userDrawn="1"/>
        </p:nvSpPr>
        <p:spPr>
          <a:xfrm>
            <a:off x="960793" y="0"/>
            <a:ext cx="10270414" cy="45719"/>
          </a:xfrm>
          <a:prstGeom prst="rect">
            <a:avLst/>
          </a:prstGeom>
          <a:gradFill>
            <a:gsLst>
              <a:gs pos="80000">
                <a:srgbClr val="FF5800"/>
              </a:gs>
              <a:gs pos="0">
                <a:srgbClr val="FFD700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ooter">
            <a:extLst>
              <a:ext uri="{FF2B5EF4-FFF2-40B4-BE49-F238E27FC236}">
                <a16:creationId xmlns:a16="http://schemas.microsoft.com/office/drawing/2014/main" id="{EAAD1CA0-EB30-B64D-8342-A394C875F022}"/>
              </a:ext>
            </a:extLst>
          </p:cNvPr>
          <p:cNvSpPr txBox="1">
            <a:spLocks/>
          </p:cNvSpPr>
          <p:nvPr userDrawn="1"/>
        </p:nvSpPr>
        <p:spPr>
          <a:xfrm>
            <a:off x="7116407" y="6217538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700" b="1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©2019 Avanade Inc. All Rights Reserved. &lt;Highly Confidential&gt;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E770253-2368-9B43-9ECE-D6AB45B102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4324" y="6211501"/>
            <a:ext cx="1200727" cy="303302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8CA1F2E-8AB2-A74B-A85D-C88346D85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376" y="1524000"/>
            <a:ext cx="10783229" cy="38404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5">
            <a:extLst>
              <a:ext uri="{FF2B5EF4-FFF2-40B4-BE49-F238E27FC236}">
                <a16:creationId xmlns:a16="http://schemas.microsoft.com/office/drawing/2014/main" id="{178D1DDA-5C3B-C442-A8B8-A1A521B67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376" y="390719"/>
            <a:ext cx="10783229" cy="99834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50B7B2-FBC6-8E45-B49A-0DFB9BA2FC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EE23A24-5E29-4F5A-B780-9568AE9A51D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63286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665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gray wav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91B1B2D-7418-D841-88B9-B399E71E4DA7}"/>
              </a:ext>
            </a:extLst>
          </p:cNvPr>
          <p:cNvSpPr/>
          <p:nvPr userDrawn="1"/>
        </p:nvSpPr>
        <p:spPr>
          <a:xfrm>
            <a:off x="960793" y="0"/>
            <a:ext cx="10270414" cy="45719"/>
          </a:xfrm>
          <a:prstGeom prst="rect">
            <a:avLst/>
          </a:prstGeom>
          <a:gradFill>
            <a:gsLst>
              <a:gs pos="80000">
                <a:srgbClr val="FF5800"/>
              </a:gs>
              <a:gs pos="0">
                <a:srgbClr val="FFD700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8CA1F2E-8AB2-A74B-A85D-C88346D85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376" y="1524000"/>
            <a:ext cx="10783229" cy="38404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5">
            <a:extLst>
              <a:ext uri="{FF2B5EF4-FFF2-40B4-BE49-F238E27FC236}">
                <a16:creationId xmlns:a16="http://schemas.microsoft.com/office/drawing/2014/main" id="{178D1DDA-5C3B-C442-A8B8-A1A521B67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376" y="390719"/>
            <a:ext cx="10783229" cy="99834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F3A371-4051-9848-8EDC-C5FFAC5E90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364480"/>
            <a:ext cx="12192000" cy="149352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31DBED-A722-0A4A-8395-7C7904C59C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E23A24-5E29-4F5A-B780-9568AE9A51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56385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665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375" y="1524000"/>
            <a:ext cx="5369545" cy="4351338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>
              <a:defRPr b="0" i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>
              <a:defRPr b="0" i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>
              <a:defRPr b="0" i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>
              <a:defRPr b="0" i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31080" y="1524000"/>
            <a:ext cx="5369545" cy="4351338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>
              <a:defRPr b="0" i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>
              <a:defRPr b="0" i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>
              <a:defRPr b="0" i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>
              <a:defRPr b="0" i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B0F35A1-ECAD-184C-9715-C2206C9C7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376" y="390719"/>
            <a:ext cx="10783229" cy="99834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85E13B-2045-2A43-94C2-9F7959B6CE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E23A24-5E29-4F5A-B780-9568AE9A51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59762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597" userDrawn="1">
          <p15:clr>
            <a:srgbClr val="FBAE40"/>
          </p15:clr>
        </p15:guide>
        <p15:guide id="4" pos="7083" userDrawn="1">
          <p15:clr>
            <a:srgbClr val="FBAE40"/>
          </p15:clr>
        </p15:guide>
        <p15:guide id="5" orient="horz" pos="119" userDrawn="1">
          <p15:clr>
            <a:srgbClr val="FBAE40"/>
          </p15:clr>
        </p15:guide>
        <p15:guide id="6" orient="horz" pos="392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adient 1/3 Vertical L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A41851-D20D-A046-A923-E8B55F3C72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83127" y="0"/>
            <a:ext cx="95958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B49FA40-B88E-364C-9B79-5129807CC4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229452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11DA9F-3A3B-6240-AF7B-61558CB8808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1200" y="6213600"/>
            <a:ext cx="1200727" cy="30330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C7F6A6-AE40-2F43-8133-FA42A151922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EE23A24-5E29-4F5A-B780-9568AE9A51D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232659D-1FD1-8C4C-99BD-F86807392014}"/>
              </a:ext>
            </a:extLst>
          </p:cNvPr>
          <p:cNvSpPr txBox="1">
            <a:spLocks/>
          </p:cNvSpPr>
          <p:nvPr userDrawn="1"/>
        </p:nvSpPr>
        <p:spPr>
          <a:xfrm>
            <a:off x="7116407" y="6217538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700" b="1" dirty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©2020 Avanade Inc. All Rights Reserved. &lt;Highly Confidential&gt;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B2E9525-8E3F-D245-B4C7-03D31000048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90563" y="390719"/>
            <a:ext cx="2330223" cy="1781175"/>
          </a:xfrm>
        </p:spPr>
        <p:txBody>
          <a:bodyPr anchor="b"/>
          <a:lstStyle>
            <a:lvl1pPr>
              <a:defRPr sz="4000" b="1" i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15640EA1-6600-BB40-8A23-C8632617A7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0336" y="2344072"/>
            <a:ext cx="2330450" cy="359952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708751855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637281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66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3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vmlDrawing" Target="../drawings/vmlDrawing1.v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AD2180B1-E71D-414E-A2E9-258288E3F32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30505136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think-cell Slide" r:id="rId12" imgW="351" imgH="351" progId="TCLayout.ActiveDocument.1">
                  <p:embed/>
                </p:oleObj>
              </mc:Choice>
              <mc:Fallback>
                <p:oleObj name="think-cell Slide" r:id="rId12" imgW="351" imgH="35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AD2180B1-E71D-414E-A2E9-258288E3F3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A96FF96-5FE0-4D44-9F08-D1976A252D4D}"/>
              </a:ext>
            </a:extLst>
          </p:cNvPr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3600" b="1" i="0" baseline="0" dirty="0">
              <a:latin typeface="Segoe UI Semibold" panose="020B0702040204020203" pitchFamily="34" charset="0"/>
              <a:cs typeface="Segoe UI Semibold" panose="020B0702040204020203" pitchFamily="34" charset="0"/>
              <a:sym typeface="Segoe UI Semibold" panose="020B0702040204020203" pitchFamily="34" charset="0"/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12218648" y="576694"/>
            <a:ext cx="155791" cy="5275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/>
          <p:cNvSpPr/>
          <p:nvPr userDrawn="1"/>
        </p:nvSpPr>
        <p:spPr>
          <a:xfrm>
            <a:off x="12218648" y="1153388"/>
            <a:ext cx="155791" cy="52753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/>
          <p:cNvSpPr/>
          <p:nvPr userDrawn="1"/>
        </p:nvSpPr>
        <p:spPr>
          <a:xfrm>
            <a:off x="12215747" y="2306776"/>
            <a:ext cx="155791" cy="5275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/>
          <p:cNvSpPr/>
          <p:nvPr userDrawn="1"/>
        </p:nvSpPr>
        <p:spPr>
          <a:xfrm>
            <a:off x="12215747" y="2883470"/>
            <a:ext cx="155791" cy="52753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/>
          <p:cNvSpPr/>
          <p:nvPr userDrawn="1"/>
        </p:nvSpPr>
        <p:spPr>
          <a:xfrm>
            <a:off x="12215747" y="3460164"/>
            <a:ext cx="155791" cy="52753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/>
          <p:cNvSpPr/>
          <p:nvPr userDrawn="1"/>
        </p:nvSpPr>
        <p:spPr>
          <a:xfrm>
            <a:off x="12215747" y="4036858"/>
            <a:ext cx="155791" cy="527538"/>
          </a:xfrm>
          <a:prstGeom prst="rect">
            <a:avLst/>
          </a:prstGeom>
          <a:solidFill>
            <a:srgbClr val="006EC6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/>
          <p:cNvSpPr/>
          <p:nvPr userDrawn="1"/>
        </p:nvSpPr>
        <p:spPr>
          <a:xfrm>
            <a:off x="12215747" y="1730082"/>
            <a:ext cx="155791" cy="527538"/>
          </a:xfrm>
          <a:prstGeom prst="rect">
            <a:avLst/>
          </a:prstGeom>
          <a:solidFill>
            <a:srgbClr val="890078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/>
          <p:cNvSpPr/>
          <p:nvPr userDrawn="1"/>
        </p:nvSpPr>
        <p:spPr>
          <a:xfrm>
            <a:off x="12382950" y="576694"/>
            <a:ext cx="155791" cy="527538"/>
          </a:xfrm>
          <a:prstGeom prst="rect">
            <a:avLst/>
          </a:prstGeom>
          <a:solidFill>
            <a:srgbClr val="A50646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/>
          <p:cNvSpPr/>
          <p:nvPr userDrawn="1"/>
        </p:nvSpPr>
        <p:spPr>
          <a:xfrm>
            <a:off x="12382950" y="1153388"/>
            <a:ext cx="155791" cy="527538"/>
          </a:xfrm>
          <a:prstGeom prst="rect">
            <a:avLst/>
          </a:prstGeom>
          <a:solidFill>
            <a:srgbClr val="9E120E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/>
          <p:cNvSpPr/>
          <p:nvPr userDrawn="1"/>
        </p:nvSpPr>
        <p:spPr>
          <a:xfrm>
            <a:off x="12380049" y="2306776"/>
            <a:ext cx="155791" cy="527538"/>
          </a:xfrm>
          <a:prstGeom prst="rect">
            <a:avLst/>
          </a:prstGeom>
          <a:solidFill>
            <a:srgbClr val="E6A61C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/>
          <p:cNvSpPr/>
          <p:nvPr userDrawn="1"/>
        </p:nvSpPr>
        <p:spPr>
          <a:xfrm>
            <a:off x="12380049" y="2883470"/>
            <a:ext cx="155791" cy="527538"/>
          </a:xfrm>
          <a:prstGeom prst="rect">
            <a:avLst/>
          </a:prstGeom>
          <a:solidFill>
            <a:srgbClr val="05732A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" name="Rectangle 21"/>
          <p:cNvSpPr/>
          <p:nvPr userDrawn="1"/>
        </p:nvSpPr>
        <p:spPr>
          <a:xfrm>
            <a:off x="12380049" y="3460164"/>
            <a:ext cx="155791" cy="527538"/>
          </a:xfrm>
          <a:prstGeom prst="rect">
            <a:avLst/>
          </a:prstGeom>
          <a:solidFill>
            <a:srgbClr val="005F62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/>
          <p:cNvSpPr/>
          <p:nvPr userDrawn="1"/>
        </p:nvSpPr>
        <p:spPr>
          <a:xfrm>
            <a:off x="12380049" y="4036858"/>
            <a:ext cx="155791" cy="527538"/>
          </a:xfrm>
          <a:prstGeom prst="rect">
            <a:avLst/>
          </a:prstGeom>
          <a:solidFill>
            <a:srgbClr val="055082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/>
          <p:cNvSpPr/>
          <p:nvPr userDrawn="1"/>
        </p:nvSpPr>
        <p:spPr>
          <a:xfrm>
            <a:off x="12380049" y="1730082"/>
            <a:ext cx="155791" cy="527538"/>
          </a:xfrm>
          <a:prstGeom prst="rect">
            <a:avLst/>
          </a:prstGeom>
          <a:solidFill>
            <a:srgbClr val="5A1455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/>
          <p:cNvSpPr/>
          <p:nvPr userDrawn="1"/>
        </p:nvSpPr>
        <p:spPr>
          <a:xfrm>
            <a:off x="12218648" y="0"/>
            <a:ext cx="155791" cy="52753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/>
          <p:cNvSpPr/>
          <p:nvPr userDrawn="1"/>
        </p:nvSpPr>
        <p:spPr>
          <a:xfrm>
            <a:off x="12382950" y="0"/>
            <a:ext cx="155791" cy="527538"/>
          </a:xfrm>
          <a:prstGeom prst="rect">
            <a:avLst/>
          </a:prstGeom>
          <a:solidFill>
            <a:srgbClr val="CC460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Title Placeholder 1">
            <a:extLst>
              <a:ext uri="{FF2B5EF4-FFF2-40B4-BE49-F238E27FC236}">
                <a16:creationId xmlns:a16="http://schemas.microsoft.com/office/drawing/2014/main" id="{658DE76C-BE08-874D-89E5-86F2CB5A1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44" y="390719"/>
            <a:ext cx="10789921" cy="99834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503EF9A9-1084-A048-BA5E-600BDC189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4945" y="1524000"/>
            <a:ext cx="1078992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6ADD8B0-8C25-234B-ADCE-7E0BFFB2AA87}"/>
              </a:ext>
            </a:extLst>
          </p:cNvPr>
          <p:cNvSpPr/>
          <p:nvPr userDrawn="1"/>
        </p:nvSpPr>
        <p:spPr>
          <a:xfrm>
            <a:off x="694944" y="0"/>
            <a:ext cx="10789920" cy="45719"/>
          </a:xfrm>
          <a:prstGeom prst="rect">
            <a:avLst/>
          </a:prstGeom>
          <a:gradFill>
            <a:gsLst>
              <a:gs pos="80000">
                <a:srgbClr val="FF5800"/>
              </a:gs>
              <a:gs pos="0">
                <a:srgbClr val="FFD700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ooter Placeholder 4">
            <a:extLst>
              <a:ext uri="{FF2B5EF4-FFF2-40B4-BE49-F238E27FC236}">
                <a16:creationId xmlns:a16="http://schemas.microsoft.com/office/drawing/2014/main" id="{D55163B3-8138-3749-928F-B56A505153A1}"/>
              </a:ext>
            </a:extLst>
          </p:cNvPr>
          <p:cNvSpPr txBox="1">
            <a:spLocks/>
          </p:cNvSpPr>
          <p:nvPr userDrawn="1"/>
        </p:nvSpPr>
        <p:spPr>
          <a:xfrm>
            <a:off x="7116407" y="6217538"/>
            <a:ext cx="4114800" cy="365125"/>
          </a:xfr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700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©2020 Avanade Inc. All Rights Reserved. &lt;Highly Confidential&gt;</a:t>
            </a:r>
          </a:p>
        </p:txBody>
      </p:sp>
      <p:pic>
        <p:nvPicPr>
          <p:cNvPr id="36" name="Picture 35" descr="AvanadeLogoNoTM_AWColor_RGB.png">
            <a:extLst>
              <a:ext uri="{FF2B5EF4-FFF2-40B4-BE49-F238E27FC236}">
                <a16:creationId xmlns:a16="http://schemas.microsoft.com/office/drawing/2014/main" id="{29898ACB-8FE7-864E-A7D7-A5C28B9FA008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585" y="6092354"/>
            <a:ext cx="1494933" cy="548639"/>
          </a:xfrm>
          <a:prstGeom prst="rect">
            <a:avLst/>
          </a:prstGeom>
        </p:spPr>
      </p:pic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6C513CFC-263C-8B44-8DDC-F64C4BE9DE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3102" y="6217537"/>
            <a:ext cx="4388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fld id="{0EE23A24-5E29-4F5A-B780-9568AE9A51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093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760" r:id="rId2"/>
    <p:sldLayoutId id="2147483885" r:id="rId3"/>
    <p:sldLayoutId id="2147484003" r:id="rId4"/>
    <p:sldLayoutId id="2147483762" r:id="rId5"/>
    <p:sldLayoutId id="2147484008" r:id="rId6"/>
    <p:sldLayoutId id="2147483847" r:id="rId7"/>
  </p:sldLayoutIdLst>
  <p:transition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tx1"/>
          </a:solidFill>
          <a:latin typeface="Segoe UI Semibold" panose="020B0502040204020203" pitchFamily="34" charset="0"/>
          <a:ea typeface="Segoe UI Semibold" panose="020B0502040204020203" pitchFamily="34" charset="0"/>
          <a:cs typeface="Segoe UI Semibold" panose="020B0502040204020203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/>
        <a:buNone/>
        <a:defRPr sz="2000" b="0" i="0" kern="1200">
          <a:solidFill>
            <a:schemeClr val="tx1"/>
          </a:solidFill>
          <a:latin typeface="Segoe UI Light" charset="0"/>
          <a:ea typeface="Segoe UI Light" charset="0"/>
          <a:cs typeface="Segoe UI Light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Segoe UI Light" charset="0"/>
          <a:ea typeface="Segoe UI Light" charset="0"/>
          <a:cs typeface="Segoe UI Light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b="0" i="0" kern="1200">
          <a:solidFill>
            <a:schemeClr val="tx1"/>
          </a:solidFill>
          <a:latin typeface="Segoe UI Light" charset="0"/>
          <a:ea typeface="Segoe UI Light" charset="0"/>
          <a:cs typeface="Segoe UI Light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400" b="0" i="0" kern="1200">
          <a:solidFill>
            <a:schemeClr val="tx1"/>
          </a:solidFill>
          <a:latin typeface="Segoe UI Light" charset="0"/>
          <a:ea typeface="Segoe UI Light" charset="0"/>
          <a:cs typeface="Segoe UI Light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400" b="0" i="0" kern="1200">
          <a:solidFill>
            <a:schemeClr val="tx1"/>
          </a:solidFill>
          <a:latin typeface="Segoe UI Light" charset="0"/>
          <a:ea typeface="Segoe UI Light" charset="0"/>
          <a:cs typeface="Segoe UI Light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4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vmlDrawing" Target="../drawings/vmlDrawing3.vml"/><Relationship Id="rId6" Type="http://schemas.openxmlformats.org/officeDocument/2006/relationships/hyperlink" Target="https://docs.microsoft.com/en-us/azure/cloud-adoption-framework/ready/azure-best-practices/naming-and-tagging" TargetMode="Externa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tags" Target="../tags/tag7.xml"/><Relationship Id="rId7" Type="http://schemas.openxmlformats.org/officeDocument/2006/relationships/hyperlink" Target="https://portal.azure.com/" TargetMode="External"/><Relationship Id="rId2" Type="http://schemas.openxmlformats.org/officeDocument/2006/relationships/tags" Target="../tags/tag6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4.bin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7" Type="http://schemas.openxmlformats.org/officeDocument/2006/relationships/image" Target="../media/image12.png"/><Relationship Id="rId2" Type="http://schemas.openxmlformats.org/officeDocument/2006/relationships/tags" Target="../tags/tag8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5.bin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7" Type="http://schemas.openxmlformats.org/officeDocument/2006/relationships/image" Target="../media/image13.png"/><Relationship Id="rId2" Type="http://schemas.openxmlformats.org/officeDocument/2006/relationships/tags" Target="../tags/tag10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6.bin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7" Type="http://schemas.openxmlformats.org/officeDocument/2006/relationships/image" Target="../media/image14.png"/><Relationship Id="rId2" Type="http://schemas.openxmlformats.org/officeDocument/2006/relationships/tags" Target="../tags/tag1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7.bin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7" Type="http://schemas.openxmlformats.org/officeDocument/2006/relationships/image" Target="../media/image15.png"/><Relationship Id="rId2" Type="http://schemas.openxmlformats.org/officeDocument/2006/relationships/tags" Target="../tags/tag14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8.bin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tags" Target="../tags/tag17.xml"/><Relationship Id="rId7" Type="http://schemas.openxmlformats.org/officeDocument/2006/relationships/image" Target="../media/image16.png"/><Relationship Id="rId2" Type="http://schemas.openxmlformats.org/officeDocument/2006/relationships/tags" Target="../tags/tag16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9.bin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7" Type="http://schemas.openxmlformats.org/officeDocument/2006/relationships/image" Target="../media/image18.png"/><Relationship Id="rId2" Type="http://schemas.openxmlformats.org/officeDocument/2006/relationships/tags" Target="../tags/tag18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0.bin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7" Type="http://schemas.openxmlformats.org/officeDocument/2006/relationships/image" Target="../media/image19.png"/><Relationship Id="rId2" Type="http://schemas.openxmlformats.org/officeDocument/2006/relationships/tags" Target="../tags/tag20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1.bin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7" Type="http://schemas.openxmlformats.org/officeDocument/2006/relationships/image" Target="../media/image20.png"/><Relationship Id="rId2" Type="http://schemas.openxmlformats.org/officeDocument/2006/relationships/tags" Target="../tags/tag2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2.bin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tags" Target="../tags/tag25.xml"/><Relationship Id="rId7" Type="http://schemas.openxmlformats.org/officeDocument/2006/relationships/image" Target="../media/image21.png"/><Relationship Id="rId2" Type="http://schemas.openxmlformats.org/officeDocument/2006/relationships/tags" Target="../tags/tag24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3.bin"/><Relationship Id="rId4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27.xml"/><Relationship Id="rId7" Type="http://schemas.openxmlformats.org/officeDocument/2006/relationships/image" Target="../media/image23.png"/><Relationship Id="rId2" Type="http://schemas.openxmlformats.org/officeDocument/2006/relationships/tags" Target="../tags/tag26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4.bin"/><Relationship Id="rId4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29.xml"/><Relationship Id="rId7" Type="http://schemas.openxmlformats.org/officeDocument/2006/relationships/image" Target="../media/image24.png"/><Relationship Id="rId2" Type="http://schemas.openxmlformats.org/officeDocument/2006/relationships/tags" Target="../tags/tag28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5.bin"/><Relationship Id="rId4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0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EDE8BC1-E33E-3047-BAF4-DDCF9296AD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Azure App Registration Setup for DSS Framework to connect DevOps and D365 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D534CE-AD25-A743-8C1A-0F56DB5080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Instructions</a:t>
            </a:r>
          </a:p>
        </p:txBody>
      </p:sp>
    </p:spTree>
    <p:extLst>
      <p:ext uri="{BB962C8B-B14F-4D97-AF65-F5344CB8AC3E}">
        <p14:creationId xmlns:p14="http://schemas.microsoft.com/office/powerpoint/2010/main" val="1772509638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794145BE-3A0E-4895-A6A3-1747D72E175C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039345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think-cell Slide" r:id="rId4" imgW="351" imgH="351" progId="TCLayout.ActiveDocument.1">
                  <p:embed/>
                </p:oleObj>
              </mc:Choice>
              <mc:Fallback>
                <p:oleObj name="think-cell Slide" r:id="rId4" imgW="351" imgH="351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794145BE-3A0E-4895-A6A3-1747D72E17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7A43746-91B2-4445-A487-659822852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This document describes the configuration of an Azure App Registration which is used as identity in the Service connection / Library „DSS Secrets“ of Azure Dev Ops to run DSSFramework Pipelines successfully.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EBF366-5A41-4128-8D21-F13770DA7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055D52-5316-4932-A58D-5C5F826569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E23A24-5E29-4F5A-B780-9568AE9A51D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373715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50CA8D70-B2AA-4FFE-A980-29D963016C83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709027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think-cell Slide" r:id="rId4" imgW="351" imgH="351" progId="TCLayout.ActiveDocument.1">
                  <p:embed/>
                </p:oleObj>
              </mc:Choice>
              <mc:Fallback>
                <p:oleObj name="think-cell Slide" r:id="rId4" imgW="351" imgH="351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50CA8D70-B2AA-4FFE-A980-29D963016C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5087B8E-7A14-4ED2-B1A2-D74973173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The following steps/configurations are required to complete the setup of the App Registration.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The User must have permission to create an App Registration in the Active Directory (Tenant)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The User must have permission to create App User in D365 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The User must have access to DevOps Secrets (Setup 3)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The User must be familiar with DSS Framework (Setup 4)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The naming conventsions for the projects must be defined to avoid renamins at a later point in time. If you dont have conventions, check the </a:t>
            </a:r>
            <a:r>
              <a:rPr lang="de-DE" dirty="0">
                <a:hlinkClick r:id="rId6"/>
              </a:rPr>
              <a:t>Microsoft Recommendations</a:t>
            </a:r>
            <a:r>
              <a:rPr lang="de-DE" dirty="0"/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F674F32-3638-4E55-BC3A-8E944CC98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Prerequisites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983BF7-A6CA-4D88-A958-8C886DAF04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E23A24-5E29-4F5A-B780-9568AE9A51DD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010992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3C0548-780C-4813-9B5E-641094C03D2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E23A24-5E29-4F5A-B780-9568AE9A51DD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D9485C-2BA5-4A64-8349-2EB6BCEFEE8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Setup 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5F0951-4491-4580-947E-C6658FE2E0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Azure App Registration</a:t>
            </a:r>
          </a:p>
        </p:txBody>
      </p:sp>
    </p:spTree>
    <p:extLst>
      <p:ext uri="{BB962C8B-B14F-4D97-AF65-F5344CB8AC3E}">
        <p14:creationId xmlns:p14="http://schemas.microsoft.com/office/powerpoint/2010/main" val="929336631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BE4D2242-F285-4BA1-9519-712AFA9A6185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261260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think-cell Slide" r:id="rId5" imgW="351" imgH="351" progId="TCLayout.ActiveDocument.1">
                  <p:embed/>
                </p:oleObj>
              </mc:Choice>
              <mc:Fallback>
                <p:oleObj name="think-cell Slide" r:id="rId5" imgW="351" imgH="351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BE4D2242-F285-4BA1-9519-712AFA9A61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B3B384F8-5D3C-4356-8E51-7292382E6C34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de-DE" sz="3600" b="1" dirty="0">
              <a:latin typeface="Segoe UI Semibold" panose="020B0702040204020203" pitchFamily="34" charset="0"/>
              <a:cs typeface="Segoe UI Semibold" panose="020B0702040204020203" pitchFamily="34" charset="0"/>
              <a:sym typeface="Segoe UI Semibold" panose="020B0702040204020203" pitchFamily="34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4145755-4BF9-4E41-BDA0-4F1007DC5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376" y="1524000"/>
            <a:ext cx="10783229" cy="4351338"/>
          </a:xfrm>
        </p:spPr>
        <p:txBody>
          <a:bodyPr/>
          <a:lstStyle/>
          <a:p>
            <a:r>
              <a:rPr lang="de-DE" dirty="0"/>
              <a:t>As first step, the App Registration must be created incl. a secret.</a:t>
            </a:r>
          </a:p>
          <a:p>
            <a:pPr marL="457200" indent="-457200">
              <a:buAutoNum type="arabicPeriod"/>
            </a:pPr>
            <a:r>
              <a:rPr lang="de-DE" dirty="0"/>
              <a:t>Open the Azure Portal (</a:t>
            </a:r>
            <a:r>
              <a:rPr lang="de-DE" dirty="0">
                <a:hlinkClick r:id="rId7"/>
              </a:rPr>
              <a:t>https://portal.azure.com</a:t>
            </a:r>
            <a:r>
              <a:rPr lang="de-DE" dirty="0"/>
              <a:t>), search for „Azure Active Directory“ and select the entry</a:t>
            </a:r>
          </a:p>
          <a:p>
            <a:pPr marL="457200" indent="-457200">
              <a:buAutoNum type="arabicPeriod"/>
            </a:pPr>
            <a:endParaRPr lang="de-DE" dirty="0"/>
          </a:p>
          <a:p>
            <a:pPr marL="457200" indent="-457200">
              <a:buAutoNum type="arabicPeriod"/>
            </a:pPr>
            <a:endParaRPr lang="de-DE" dirty="0"/>
          </a:p>
          <a:p>
            <a:pPr marL="457200" indent="-457200">
              <a:buAutoNum type="arabicPeriod"/>
            </a:pPr>
            <a:endParaRPr lang="de-DE" dirty="0"/>
          </a:p>
          <a:p>
            <a:pPr marL="457200" indent="-457200">
              <a:buAutoNum type="arabicPeriod"/>
            </a:pPr>
            <a:endParaRPr lang="de-DE" dirty="0"/>
          </a:p>
          <a:p>
            <a:pPr marL="457200" indent="-457200">
              <a:buAutoNum type="arabicPeriod"/>
            </a:pPr>
            <a:r>
              <a:rPr lang="de-DE" dirty="0"/>
              <a:t>Select „App registrations“ in the navigation on the left hand side.</a:t>
            </a:r>
          </a:p>
          <a:p>
            <a:pPr marL="457200" indent="-457200">
              <a:buAutoNum type="arabicPeriod"/>
            </a:pPr>
            <a:endParaRPr lang="de-DE" dirty="0"/>
          </a:p>
          <a:p>
            <a:pPr marL="457200" indent="-457200">
              <a:buAutoNum type="arabicPeriod"/>
            </a:pPr>
            <a:endParaRPr lang="de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C290CAE-1B3B-4657-8EF0-B9BC88034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Steps - Active Directory (1/6)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AEE08A-610E-4799-911D-21B3AFD8A1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E23A24-5E29-4F5A-B780-9568AE9A51DD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5F9D9B-4B33-4BB5-8BA4-CA15A5EBB67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2553" y="2635241"/>
            <a:ext cx="4451152" cy="14392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0F5B3D5-F243-400E-8ACE-BAD8C13179D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49454" y="3575464"/>
            <a:ext cx="1432684" cy="2572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005558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BE4D2242-F285-4BA1-9519-712AFA9A6185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2430113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think-cell Slide" r:id="rId5" imgW="351" imgH="351" progId="TCLayout.ActiveDocument.1">
                  <p:embed/>
                </p:oleObj>
              </mc:Choice>
              <mc:Fallback>
                <p:oleObj name="think-cell Slide" r:id="rId5" imgW="351" imgH="351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BE4D2242-F285-4BA1-9519-712AFA9A61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B3B384F8-5D3C-4356-8E51-7292382E6C34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de-DE" sz="3600" b="1" dirty="0">
              <a:latin typeface="Segoe UI Semibold" panose="020B0702040204020203" pitchFamily="34" charset="0"/>
              <a:cs typeface="Segoe UI Semibold" panose="020B0702040204020203" pitchFamily="34" charset="0"/>
              <a:sym typeface="Segoe UI Semibold" panose="020B0702040204020203" pitchFamily="34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4145755-4BF9-4E41-BDA0-4F1007DC5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376" y="1524000"/>
            <a:ext cx="10783229" cy="4351338"/>
          </a:xfrm>
        </p:spPr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de-DE" dirty="0"/>
              <a:t>Select „+ New registration“ and enter the name of the principal and click „Register“</a:t>
            </a:r>
          </a:p>
          <a:p>
            <a:endParaRPr lang="de-DE" dirty="0"/>
          </a:p>
          <a:p>
            <a:pPr marL="457200" indent="-457200">
              <a:buAutoNum type="arabicPeriod"/>
            </a:pPr>
            <a:endParaRPr lang="de-DE" dirty="0"/>
          </a:p>
          <a:p>
            <a:pPr marL="457200" indent="-457200">
              <a:buAutoNum type="arabicPeriod"/>
            </a:pPr>
            <a:endParaRPr lang="de-DE" dirty="0"/>
          </a:p>
          <a:p>
            <a:pPr marL="457200" indent="-457200">
              <a:buAutoNum type="arabicPeriod"/>
            </a:pPr>
            <a:endParaRPr lang="de-DE" dirty="0"/>
          </a:p>
          <a:p>
            <a:endParaRPr lang="de-DE" dirty="0"/>
          </a:p>
          <a:p>
            <a:pPr marL="457200" indent="-457200">
              <a:buAutoNum type="arabicPeriod"/>
            </a:pPr>
            <a:endParaRPr lang="de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C290CAE-1B3B-4657-8EF0-B9BC88034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Steps - Active Directory (2/6)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AEE08A-610E-4799-911D-21B3AFD8A1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E23A24-5E29-4F5A-B780-9568AE9A51DD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AAA352-5758-4A86-896D-841CDC65DE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7105" y="2174483"/>
            <a:ext cx="5072312" cy="3603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292014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BE4D2242-F285-4BA1-9519-712AFA9A6185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990003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think-cell Slide" r:id="rId5" imgW="351" imgH="351" progId="TCLayout.ActiveDocument.1">
                  <p:embed/>
                </p:oleObj>
              </mc:Choice>
              <mc:Fallback>
                <p:oleObj name="think-cell Slide" r:id="rId5" imgW="351" imgH="351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BE4D2242-F285-4BA1-9519-712AFA9A61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B3B384F8-5D3C-4356-8E51-7292382E6C34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de-DE" sz="3600" b="1" dirty="0">
              <a:latin typeface="Segoe UI Semibold" panose="020B0702040204020203" pitchFamily="34" charset="0"/>
              <a:cs typeface="Segoe UI Semibold" panose="020B0702040204020203" pitchFamily="34" charset="0"/>
              <a:sym typeface="Segoe UI Semibold" panose="020B0702040204020203" pitchFamily="34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4145755-4BF9-4E41-BDA0-4F1007DC5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376" y="1524000"/>
            <a:ext cx="10783229" cy="4351338"/>
          </a:xfrm>
        </p:spPr>
        <p:txBody>
          <a:bodyPr/>
          <a:lstStyle/>
          <a:p>
            <a:pPr marL="457200" indent="-457200">
              <a:buFont typeface="+mj-lt"/>
              <a:buAutoNum type="arabicPeriod" startAt="4"/>
            </a:pPr>
            <a:r>
              <a:rPr lang="de-DE" dirty="0"/>
              <a:t>Select Certificates &amp; secrets“ in the navigation on the left hand side and click „+ New client secret“</a:t>
            </a:r>
          </a:p>
          <a:p>
            <a:pPr marL="457200" indent="-457200">
              <a:buFont typeface="+mj-lt"/>
              <a:buAutoNum type="arabicPeriod" startAt="4"/>
            </a:pPr>
            <a:endParaRPr lang="de-DE" dirty="0"/>
          </a:p>
          <a:p>
            <a:endParaRPr lang="de-DE" dirty="0"/>
          </a:p>
          <a:p>
            <a:pPr marL="457200" indent="-457200">
              <a:buAutoNum type="arabicPeriod"/>
            </a:pPr>
            <a:endParaRPr lang="de-DE" dirty="0"/>
          </a:p>
          <a:p>
            <a:pPr marL="457200" indent="-457200">
              <a:buAutoNum type="arabicPeriod"/>
            </a:pPr>
            <a:endParaRPr lang="de-DE" dirty="0"/>
          </a:p>
          <a:p>
            <a:pPr marL="457200" indent="-457200">
              <a:buAutoNum type="arabicPeriod"/>
            </a:pPr>
            <a:endParaRPr lang="de-DE" dirty="0"/>
          </a:p>
          <a:p>
            <a:endParaRPr lang="de-DE" dirty="0"/>
          </a:p>
          <a:p>
            <a:pPr marL="457200" indent="-457200">
              <a:buAutoNum type="arabicPeriod"/>
            </a:pPr>
            <a:endParaRPr lang="de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C290CAE-1B3B-4657-8EF0-B9BC88034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Steps - Active Directory (3/6)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AEE08A-610E-4799-911D-21B3AFD8A1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E23A24-5E29-4F5A-B780-9568AE9A51DD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C08414-2CD4-4D44-846D-4FE3047290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0902" y="2205839"/>
            <a:ext cx="5035732" cy="3475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924202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BE4D2242-F285-4BA1-9519-712AFA9A6185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50660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think-cell Slide" r:id="rId5" imgW="351" imgH="351" progId="TCLayout.ActiveDocument.1">
                  <p:embed/>
                </p:oleObj>
              </mc:Choice>
              <mc:Fallback>
                <p:oleObj name="think-cell Slide" r:id="rId5" imgW="351" imgH="351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BE4D2242-F285-4BA1-9519-712AFA9A61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B3B384F8-5D3C-4356-8E51-7292382E6C34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de-DE" sz="3600" b="1" dirty="0">
              <a:latin typeface="Segoe UI Semibold" panose="020B0702040204020203" pitchFamily="34" charset="0"/>
              <a:cs typeface="Segoe UI Semibold" panose="020B0702040204020203" pitchFamily="34" charset="0"/>
              <a:sym typeface="Segoe UI Semibold" panose="020B0702040204020203" pitchFamily="34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4145755-4BF9-4E41-BDA0-4F1007DC5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376" y="1524000"/>
            <a:ext cx="10783229" cy="4351338"/>
          </a:xfrm>
        </p:spPr>
        <p:txBody>
          <a:bodyPr/>
          <a:lstStyle/>
          <a:p>
            <a:pPr marL="457200" indent="-457200">
              <a:buFont typeface="+mj-lt"/>
              <a:buAutoNum type="arabicPeriod" startAt="5"/>
            </a:pPr>
            <a:r>
              <a:rPr lang="de-DE" dirty="0"/>
              <a:t>Set the following properties and click „Add“</a:t>
            </a:r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lang="de-DE" b="1" dirty="0"/>
              <a:t>Description: </a:t>
            </a:r>
            <a:r>
              <a:rPr lang="de-DE" dirty="0"/>
              <a:t>e.g. „Azure DevOps Secret“</a:t>
            </a:r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lang="de-DE" b="1" dirty="0"/>
              <a:t>Expires: </a:t>
            </a:r>
            <a:r>
              <a:rPr lang="de-DE" dirty="0"/>
              <a:t>Never (to be discussed with Customer)</a:t>
            </a:r>
          </a:p>
          <a:p>
            <a:pPr marL="457200" indent="-457200">
              <a:buFont typeface="+mj-lt"/>
              <a:buAutoNum type="arabicPeriod" startAt="5"/>
            </a:pPr>
            <a:r>
              <a:rPr lang="de-DE" b="1" dirty="0"/>
              <a:t>IMPORTANT: </a:t>
            </a:r>
            <a:r>
              <a:rPr lang="de-DE" dirty="0"/>
              <a:t>Copy your secret value to your project key storage/vault. You cannot fetch this secret afterwards!</a:t>
            </a:r>
          </a:p>
          <a:p>
            <a:endParaRPr lang="de-DE" dirty="0"/>
          </a:p>
          <a:p>
            <a:pPr marL="457200" indent="-457200">
              <a:buAutoNum type="arabicPeriod"/>
            </a:pPr>
            <a:endParaRPr lang="de-DE" dirty="0"/>
          </a:p>
          <a:p>
            <a:pPr marL="457200" indent="-457200">
              <a:buAutoNum type="arabicPeriod"/>
            </a:pPr>
            <a:endParaRPr lang="de-DE" dirty="0"/>
          </a:p>
          <a:p>
            <a:pPr marL="457200" indent="-457200">
              <a:buAutoNum type="arabicPeriod"/>
            </a:pPr>
            <a:endParaRPr lang="de-DE" dirty="0"/>
          </a:p>
          <a:p>
            <a:endParaRPr lang="de-DE" dirty="0"/>
          </a:p>
          <a:p>
            <a:pPr marL="457200" indent="-457200">
              <a:buAutoNum type="arabicPeriod"/>
            </a:pPr>
            <a:endParaRPr lang="de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C290CAE-1B3B-4657-8EF0-B9BC88034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Steps - Active Directory (4/6)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AEE08A-610E-4799-911D-21B3AFD8A1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E23A24-5E29-4F5A-B780-9568AE9A51DD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5E1E61-7FDC-44BD-84F8-8019FE9BF8AC}"/>
              </a:ext>
            </a:extLst>
          </p:cNvPr>
          <p:cNvSpPr txBox="1"/>
          <p:nvPr/>
        </p:nvSpPr>
        <p:spPr>
          <a:xfrm>
            <a:off x="6905897" y="5028245"/>
            <a:ext cx="43194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Note: </a:t>
            </a:r>
            <a:r>
              <a:rPr lang="de-DE" dirty="0"/>
              <a:t>If the generated password starts or ends with [ ] or „ please recreate it, since this may lead to issues in the Azure Devops Pipelines.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AFFC14-34CD-4393-93EC-B20B9DD8FE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5047" y="3151882"/>
            <a:ext cx="5127180" cy="3011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010484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BE4D2242-F285-4BA1-9519-712AFA9A6185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516205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" name="think-cell Slide" r:id="rId5" imgW="351" imgH="351" progId="TCLayout.ActiveDocument.1">
                  <p:embed/>
                </p:oleObj>
              </mc:Choice>
              <mc:Fallback>
                <p:oleObj name="think-cell Slide" r:id="rId5" imgW="351" imgH="351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BE4D2242-F285-4BA1-9519-712AFA9A61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B3B384F8-5D3C-4356-8E51-7292382E6C34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de-DE" sz="3600" b="1" dirty="0">
              <a:latin typeface="Segoe UI Semibold" panose="020B0702040204020203" pitchFamily="34" charset="0"/>
              <a:cs typeface="Segoe UI Semibold" panose="020B0702040204020203" pitchFamily="34" charset="0"/>
              <a:sym typeface="Segoe UI Semibold" panose="020B0702040204020203" pitchFamily="34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4145755-4BF9-4E41-BDA0-4F1007DC5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376" y="1523999"/>
            <a:ext cx="10783229" cy="4600575"/>
          </a:xfrm>
        </p:spPr>
        <p:txBody>
          <a:bodyPr/>
          <a:lstStyle/>
          <a:p>
            <a:pPr marL="457200" indent="-457200">
              <a:buFont typeface="+mj-lt"/>
              <a:buAutoNum type="arabicPeriod" startAt="7"/>
            </a:pPr>
            <a:r>
              <a:rPr lang="de-DE" dirty="0"/>
              <a:t>[Optional] Set owner of App Registrations to Customer counterpart (e.g. IT-PM) by clicking on „Owners“ and select the Customer counterpart by „Add owners“.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endParaRPr lang="de-DE" dirty="0"/>
          </a:p>
          <a:p>
            <a:pPr marL="457200" indent="-457200">
              <a:buFont typeface="+mj-lt"/>
              <a:buAutoNum type="arabicPeriod" startAt="7"/>
            </a:pPr>
            <a:endParaRPr lang="de-DE" dirty="0"/>
          </a:p>
          <a:p>
            <a:pPr marL="457200" indent="-457200">
              <a:buFont typeface="+mj-lt"/>
              <a:buAutoNum type="arabicPeriod" startAt="7"/>
            </a:pPr>
            <a:endParaRPr lang="de-DE" dirty="0"/>
          </a:p>
          <a:p>
            <a:r>
              <a:rPr lang="de-DE" dirty="0"/>
              <a:t> </a:t>
            </a:r>
          </a:p>
          <a:p>
            <a:endParaRPr lang="de-DE" dirty="0"/>
          </a:p>
          <a:p>
            <a:pPr marL="457200" indent="-457200">
              <a:buAutoNum type="arabicPeriod"/>
            </a:pPr>
            <a:endParaRPr lang="de-DE" dirty="0"/>
          </a:p>
          <a:p>
            <a:pPr marL="457200" indent="-457200">
              <a:buAutoNum type="arabicPeriod"/>
            </a:pPr>
            <a:endParaRPr lang="de-DE" dirty="0"/>
          </a:p>
          <a:p>
            <a:pPr marL="457200" indent="-457200">
              <a:buAutoNum type="arabicPeriod"/>
            </a:pPr>
            <a:endParaRPr lang="de-DE" dirty="0"/>
          </a:p>
          <a:p>
            <a:endParaRPr lang="de-DE" dirty="0"/>
          </a:p>
          <a:p>
            <a:r>
              <a:rPr lang="de-DE" b="1" dirty="0"/>
              <a:t>      </a:t>
            </a:r>
            <a:r>
              <a:rPr lang="de-DE" sz="1600" b="1" dirty="0"/>
              <a:t> Note</a:t>
            </a:r>
            <a:r>
              <a:rPr lang="de-DE" sz="1600" dirty="0"/>
              <a:t>: This is just a recommendation and some IT-Departments are expecting this step.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C290CAE-1B3B-4657-8EF0-B9BC88034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Steps - Active Directory (5/6)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AEE08A-610E-4799-911D-21B3AFD8A1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E23A24-5E29-4F5A-B780-9568AE9A51DD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EFAFB3-DBC9-408F-BE56-3A2E0161264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9222" y="2243025"/>
            <a:ext cx="6224555" cy="3212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574778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BE4D2242-F285-4BA1-9519-712AFA9A6185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4881199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8" name="think-cell Slide" r:id="rId5" imgW="351" imgH="351" progId="TCLayout.ActiveDocument.1">
                  <p:embed/>
                </p:oleObj>
              </mc:Choice>
              <mc:Fallback>
                <p:oleObj name="think-cell Slide" r:id="rId5" imgW="351" imgH="351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BE4D2242-F285-4BA1-9519-712AFA9A61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B3B384F8-5D3C-4356-8E51-7292382E6C34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de-DE" sz="3600" b="1" dirty="0">
              <a:latin typeface="Segoe UI Semibold" panose="020B0702040204020203" pitchFamily="34" charset="0"/>
              <a:cs typeface="Segoe UI Semibold" panose="020B0702040204020203" pitchFamily="34" charset="0"/>
              <a:sym typeface="Segoe UI Semibold" panose="020B0702040204020203" pitchFamily="34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4145755-4BF9-4E41-BDA0-4F1007DC5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376" y="1524000"/>
            <a:ext cx="10783229" cy="4351338"/>
          </a:xfrm>
        </p:spPr>
        <p:txBody>
          <a:bodyPr/>
          <a:lstStyle/>
          <a:p>
            <a:pPr marL="457200" indent="-457200">
              <a:buFont typeface="+mj-lt"/>
              <a:buAutoNum type="arabicPeriod" startAt="8"/>
            </a:pPr>
            <a:r>
              <a:rPr lang="de-DE" dirty="0"/>
              <a:t>Since the pipeline scripts must access D365, the API permissions must be set accordingly.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de-DE" dirty="0"/>
              <a:t>Open „API permissions“ in the App Registration and select „Add a permission“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de-DE" dirty="0"/>
              <a:t>Select „Dynamics CRM“ </a:t>
            </a:r>
            <a:r>
              <a:rPr lang="de-DE" dirty="0">
                <a:sym typeface="Wingdings" panose="05000000000000000000" pitchFamily="2" charset="2"/>
              </a:rPr>
              <a:t> „Delegated permissions“  „Access Common Data Service as organization users“ and click „Add permission“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de-DE" dirty="0">
                <a:sym typeface="Wingdings" panose="05000000000000000000" pitchFamily="2" charset="2"/>
              </a:rPr>
              <a:t>Depending on the customer process/setup, the Azure Admin Group must be notified to get the permission granted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endParaRPr lang="de-DE" dirty="0"/>
          </a:p>
          <a:p>
            <a:pPr marL="1143000" lvl="1" indent="-457200">
              <a:buFont typeface="Arial" panose="020B0604020202020204" pitchFamily="34" charset="0"/>
              <a:buChar char="•"/>
            </a:pPr>
            <a:endParaRPr lang="de-DE" dirty="0"/>
          </a:p>
          <a:p>
            <a:pPr marL="1143000" lvl="1" indent="-457200">
              <a:buFont typeface="Arial" panose="020B0604020202020204" pitchFamily="34" charset="0"/>
              <a:buChar char="•"/>
            </a:pPr>
            <a:endParaRPr lang="de-DE" dirty="0"/>
          </a:p>
          <a:p>
            <a:pPr marL="457200" indent="-457200">
              <a:buFont typeface="+mj-lt"/>
              <a:buAutoNum type="arabicPeriod" startAt="8"/>
            </a:pPr>
            <a:endParaRPr lang="de-DE" dirty="0"/>
          </a:p>
          <a:p>
            <a:pPr marL="457200" indent="-457200">
              <a:buFont typeface="+mj-lt"/>
              <a:buAutoNum type="arabicPeriod" startAt="8"/>
            </a:pPr>
            <a:endParaRPr lang="de-DE" dirty="0"/>
          </a:p>
          <a:p>
            <a:r>
              <a:rPr lang="de-DE" dirty="0"/>
              <a:t> </a:t>
            </a:r>
          </a:p>
          <a:p>
            <a:endParaRPr lang="de-DE" dirty="0"/>
          </a:p>
          <a:p>
            <a:pPr marL="457200" indent="-457200">
              <a:buAutoNum type="arabicPeriod"/>
            </a:pPr>
            <a:endParaRPr lang="de-DE" dirty="0"/>
          </a:p>
          <a:p>
            <a:pPr marL="457200" indent="-457200">
              <a:buAutoNum type="arabicPeriod"/>
            </a:pPr>
            <a:endParaRPr lang="de-DE" dirty="0"/>
          </a:p>
          <a:p>
            <a:pPr marL="457200" indent="-457200">
              <a:buAutoNum type="arabicPeriod"/>
            </a:pPr>
            <a:endParaRPr lang="de-DE" dirty="0"/>
          </a:p>
          <a:p>
            <a:endParaRPr lang="de-DE" dirty="0"/>
          </a:p>
          <a:p>
            <a:pPr marL="457200" indent="-457200">
              <a:buAutoNum type="arabicPeriod"/>
            </a:pPr>
            <a:endParaRPr lang="de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C290CAE-1B3B-4657-8EF0-B9BC88034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Steps - Active Directory (6/6)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AEE08A-610E-4799-911D-21B3AFD8A1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E23A24-5E29-4F5A-B780-9568AE9A51DD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1E1F77-1291-4847-ADDD-1A4E70D57B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7907" y="3208178"/>
            <a:ext cx="1818429" cy="32893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E39B0C7-E323-484D-913E-DE95D9F1DA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82990" y="3478847"/>
            <a:ext cx="4089581" cy="2738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137246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3C0548-780C-4813-9B5E-641094C03D2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E23A24-5E29-4F5A-B780-9568AE9A51DD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D9485C-2BA5-4A64-8349-2EB6BCEFEE8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Setup 2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5F0951-4491-4580-947E-C6658FE2E0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D365 CE Application User Setup</a:t>
            </a:r>
          </a:p>
        </p:txBody>
      </p:sp>
    </p:spTree>
    <p:extLst>
      <p:ext uri="{BB962C8B-B14F-4D97-AF65-F5344CB8AC3E}">
        <p14:creationId xmlns:p14="http://schemas.microsoft.com/office/powerpoint/2010/main" val="274960627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BE4D2242-F285-4BA1-9519-712AFA9A6185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548158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" name="think-cell Slide" r:id="rId5" imgW="351" imgH="351" progId="TCLayout.ActiveDocument.1">
                  <p:embed/>
                </p:oleObj>
              </mc:Choice>
              <mc:Fallback>
                <p:oleObj name="think-cell Slide" r:id="rId5" imgW="351" imgH="351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BE4D2242-F285-4BA1-9519-712AFA9A61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B3B384F8-5D3C-4356-8E51-7292382E6C34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de-DE" sz="3600" b="1" dirty="0">
              <a:latin typeface="Segoe UI Semibold" panose="020B0702040204020203" pitchFamily="34" charset="0"/>
              <a:cs typeface="Segoe UI Semibold" panose="020B0702040204020203" pitchFamily="34" charset="0"/>
              <a:sym typeface="Segoe UI Semibold" panose="020B0702040204020203" pitchFamily="34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4145755-4BF9-4E41-BDA0-4F1007DC5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376" y="1523999"/>
            <a:ext cx="10783229" cy="4693537"/>
          </a:xfrm>
        </p:spPr>
        <p:txBody>
          <a:bodyPr/>
          <a:lstStyle/>
          <a:p>
            <a:r>
              <a:rPr lang="de-DE" dirty="0"/>
              <a:t>The new App Registration can be mapped to a D365 Application User.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Open CE and navigate to Settings </a:t>
            </a:r>
            <a:r>
              <a:rPr lang="de-DE" dirty="0">
                <a:sym typeface="Wingdings" panose="05000000000000000000" pitchFamily="2" charset="2"/>
              </a:rPr>
              <a:t> Security  Users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>
                <a:sym typeface="Wingdings" panose="05000000000000000000" pitchFamily="2" charset="2"/>
              </a:rPr>
              <a:t>Switch the View to „Application Users“ (this is important, otherwise creating a systemuser record will not work)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>
                <a:sym typeface="Wingdings" panose="05000000000000000000" pitchFamily="2" charset="2"/>
              </a:rPr>
              <a:t>Click „+ NEW“ and change Form to „APPLICATION USER“(this is important, otherwise creating a systemuser record will not work)</a:t>
            </a:r>
          </a:p>
          <a:p>
            <a:pPr marL="457200" indent="-457200">
              <a:buFont typeface="+mj-lt"/>
              <a:buAutoNum type="arabicPeriod"/>
            </a:pPr>
            <a:endParaRPr lang="de-DE" dirty="0">
              <a:sym typeface="Wingdings" panose="05000000000000000000" pitchFamily="2" charset="2"/>
            </a:endParaRPr>
          </a:p>
          <a:p>
            <a:pPr marL="457200" indent="-457200">
              <a:buFont typeface="+mj-lt"/>
              <a:buAutoNum type="arabicPeriod"/>
            </a:pPr>
            <a:endParaRPr lang="de-DE" dirty="0">
              <a:sym typeface="Wingdings" panose="05000000000000000000" pitchFamily="2" charset="2"/>
            </a:endParaRPr>
          </a:p>
          <a:p>
            <a:pPr marL="457200" indent="-457200">
              <a:buFont typeface="+mj-lt"/>
              <a:buAutoNum type="arabicPeriod"/>
            </a:pPr>
            <a:endParaRPr lang="de-DE" dirty="0">
              <a:sym typeface="Wingdings" panose="05000000000000000000" pitchFamily="2" charset="2"/>
            </a:endParaRPr>
          </a:p>
          <a:p>
            <a:pPr marL="457200" indent="-457200">
              <a:buFont typeface="+mj-lt"/>
              <a:buAutoNum type="arabicPeriod"/>
            </a:pPr>
            <a:endParaRPr lang="de-DE" dirty="0"/>
          </a:p>
          <a:p>
            <a:pPr marL="457200" indent="-457200">
              <a:buAutoNum type="arabicPeriod"/>
            </a:pPr>
            <a:r>
              <a:rPr lang="de-DE" dirty="0"/>
              <a:t>Enter a Username, Full Name and Primary Email. The Email must not exist but it is recommended to use a valid address. E.g. To run a workflow and send an email from „CreatedBy“ of a record.</a:t>
            </a:r>
          </a:p>
          <a:p>
            <a:endParaRPr lang="de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C290CAE-1B3B-4657-8EF0-B9BC88034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Steps – D365 CE Application User Setup (1/2)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AEE08A-610E-4799-911D-21B3AFD8A1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E23A24-5E29-4F5A-B780-9568AE9A51DD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FE73A8F-B81F-462F-9A0C-4AD0C3AA8A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38775" y="3476625"/>
            <a:ext cx="3752974" cy="172567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798860648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BE4D2242-F285-4BA1-9519-712AFA9A6185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4414053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" name="think-cell Slide" r:id="rId5" imgW="351" imgH="351" progId="TCLayout.ActiveDocument.1">
                  <p:embed/>
                </p:oleObj>
              </mc:Choice>
              <mc:Fallback>
                <p:oleObj name="think-cell Slide" r:id="rId5" imgW="351" imgH="351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BE4D2242-F285-4BA1-9519-712AFA9A61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B3B384F8-5D3C-4356-8E51-7292382E6C34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de-DE" sz="3600" b="1" dirty="0">
              <a:latin typeface="Segoe UI Semibold" panose="020B0702040204020203" pitchFamily="34" charset="0"/>
              <a:cs typeface="Segoe UI Semibold" panose="020B0702040204020203" pitchFamily="34" charset="0"/>
              <a:sym typeface="Segoe UI Semibold" panose="020B0702040204020203" pitchFamily="34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4145755-4BF9-4E41-BDA0-4F1007DC5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376" y="1524000"/>
            <a:ext cx="10783229" cy="4351338"/>
          </a:xfrm>
        </p:spPr>
        <p:txBody>
          <a:bodyPr/>
          <a:lstStyle/>
          <a:p>
            <a:pPr marL="457200" indent="-457200">
              <a:buFont typeface="+mj-lt"/>
              <a:buAutoNum type="arabicPeriod" startAt="5"/>
            </a:pPr>
            <a:r>
              <a:rPr lang="de-DE" dirty="0">
                <a:sym typeface="Wingdings" panose="05000000000000000000" pitchFamily="2" charset="2"/>
              </a:rPr>
              <a:t>Enter the ApplicationID and click „SAVE“ (the „Azure AD Object ID“ gets filled automatically as well as the „Application ID URI“)</a:t>
            </a:r>
          </a:p>
          <a:p>
            <a:pPr marL="457200" indent="-457200">
              <a:buFont typeface="+mj-lt"/>
              <a:buAutoNum type="arabicPeriod" startAt="5"/>
            </a:pPr>
            <a:endParaRPr lang="de-DE" dirty="0">
              <a:sym typeface="Wingdings" panose="05000000000000000000" pitchFamily="2" charset="2"/>
            </a:endParaRPr>
          </a:p>
          <a:p>
            <a:pPr marL="457200" indent="-457200">
              <a:buFont typeface="+mj-lt"/>
              <a:buAutoNum type="arabicPeriod" startAt="5"/>
            </a:pPr>
            <a:endParaRPr lang="de-DE" dirty="0">
              <a:sym typeface="Wingdings" panose="05000000000000000000" pitchFamily="2" charset="2"/>
            </a:endParaRPr>
          </a:p>
          <a:p>
            <a:endParaRPr lang="de-DE" dirty="0">
              <a:sym typeface="Wingdings" panose="05000000000000000000" pitchFamily="2" charset="2"/>
            </a:endParaRPr>
          </a:p>
          <a:p>
            <a:pPr marL="457200" indent="-457200">
              <a:buFont typeface="+mj-lt"/>
              <a:buAutoNum type="arabicPeriod" startAt="5"/>
            </a:pPr>
            <a:endParaRPr lang="de-DE" dirty="0">
              <a:sym typeface="Wingdings" panose="05000000000000000000" pitchFamily="2" charset="2"/>
            </a:endParaRP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pPr marL="457200" indent="-457200">
              <a:buFont typeface="+mj-lt"/>
              <a:buAutoNum type="arabicPeriod" startAt="6"/>
            </a:pPr>
            <a:r>
              <a:rPr lang="de-DE" dirty="0"/>
              <a:t>Assign the required Security Role(s). If you did not configure an explicit Customizing-Admin Role, this must be either System Administrator or System Customizer since the pipeline is deploying Solutions and also pulls Solutions information to check version numbers etc.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C290CAE-1B3B-4657-8EF0-B9BC88034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Steps – D365 CE Application User Setup (2/2)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AEE08A-610E-4799-911D-21B3AFD8A1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E23A24-5E29-4F5A-B780-9568AE9A51DD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B06B57-97BF-4710-B84C-08BAE214EB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0719" y="1990000"/>
            <a:ext cx="2577206" cy="267167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805117400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3C0548-780C-4813-9B5E-641094C03D2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E23A24-5E29-4F5A-B780-9568AE9A51DD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D9485C-2BA5-4A64-8349-2EB6BCEFEE8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Setup 3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5F0951-4491-4580-947E-C6658FE2E0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Azure DevOps Library Setup</a:t>
            </a:r>
          </a:p>
        </p:txBody>
      </p:sp>
    </p:spTree>
    <p:extLst>
      <p:ext uri="{BB962C8B-B14F-4D97-AF65-F5344CB8AC3E}">
        <p14:creationId xmlns:p14="http://schemas.microsoft.com/office/powerpoint/2010/main" val="2232232673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F80E801-4673-4058-A81D-52ECF4F30500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9098502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" name="think-cell Slide" r:id="rId5" imgW="351" imgH="351" progId="TCLayout.ActiveDocument.1">
                  <p:embed/>
                </p:oleObj>
              </mc:Choice>
              <mc:Fallback>
                <p:oleObj name="think-cell Slide" r:id="rId5" imgW="351" imgH="351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F80E801-4673-4058-A81D-52ECF4F305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E7931144-3EB0-49BE-A887-F38528250C99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de-DE" sz="3600" b="1" dirty="0">
              <a:latin typeface="Segoe UI Semibold" panose="020B0702040204020203" pitchFamily="34" charset="0"/>
              <a:cs typeface="Segoe UI Semibold" panose="020B0702040204020203" pitchFamily="34" charset="0"/>
              <a:sym typeface="Segoe UI Semibold" panose="020B0702040204020203" pitchFamily="34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CFA78CE-B187-488B-88FE-3B850BFA9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To enable the Pipelines to use the new Identity, a Library gets rolled our as part of the inital DSS Framework Setup.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Open DevOps and navigate to Pipelines </a:t>
            </a:r>
            <a:r>
              <a:rPr lang="de-DE" dirty="0">
                <a:sym typeface="Wingdings" panose="05000000000000000000" pitchFamily="2" charset="2"/>
              </a:rPr>
              <a:t> Library  DSS Secrets</a:t>
            </a:r>
          </a:p>
          <a:p>
            <a:pPr marL="457200" indent="-457200">
              <a:buFont typeface="+mj-lt"/>
              <a:buAutoNum type="arabicPeriod"/>
            </a:pPr>
            <a:endParaRPr lang="de-DE" dirty="0">
              <a:sym typeface="Wingdings" panose="05000000000000000000" pitchFamily="2" charset="2"/>
            </a:endParaRPr>
          </a:p>
          <a:p>
            <a:pPr marL="457200" indent="-457200">
              <a:buFont typeface="+mj-lt"/>
              <a:buAutoNum type="arabicPeriod"/>
            </a:pPr>
            <a:endParaRPr lang="de-DE" dirty="0">
              <a:sym typeface="Wingdings" panose="05000000000000000000" pitchFamily="2" charset="2"/>
            </a:endParaRPr>
          </a:p>
          <a:p>
            <a:pPr marL="457200" indent="-457200">
              <a:buFont typeface="+mj-lt"/>
              <a:buAutoNum type="arabicPeriod"/>
            </a:pPr>
            <a:endParaRPr lang="de-DE" dirty="0">
              <a:sym typeface="Wingdings" panose="05000000000000000000" pitchFamily="2" charset="2"/>
            </a:endParaRPr>
          </a:p>
          <a:p>
            <a:pPr marL="457200" indent="-457200">
              <a:buFont typeface="+mj-lt"/>
              <a:buAutoNum type="arabicPeriod"/>
            </a:pPr>
            <a:endParaRPr lang="de-DE" dirty="0">
              <a:sym typeface="Wingdings" panose="05000000000000000000" pitchFamily="2" charset="2"/>
            </a:endParaRPr>
          </a:p>
          <a:p>
            <a:pPr marL="457200" indent="-457200">
              <a:buFont typeface="+mj-lt"/>
              <a:buAutoNum type="arabicPeriod"/>
            </a:pPr>
            <a:endParaRPr lang="de-DE" dirty="0">
              <a:sym typeface="Wingdings" panose="05000000000000000000" pitchFamily="2" charset="2"/>
            </a:endParaRPr>
          </a:p>
          <a:p>
            <a:pPr marL="457200" indent="-457200">
              <a:buFont typeface="+mj-lt"/>
              <a:buAutoNum type="arabicPeriod"/>
            </a:pPr>
            <a:endParaRPr lang="de-DE" dirty="0">
              <a:sym typeface="Wingdings" panose="05000000000000000000" pitchFamily="2" charset="2"/>
            </a:endParaRPr>
          </a:p>
          <a:p>
            <a:endParaRPr lang="de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5B07C4E-3997-4693-A7CA-93E7B0CEF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Setup Azure DevOps (1/2)</a:t>
            </a:r>
            <a:br>
              <a:rPr lang="de-DE" dirty="0"/>
            </a:b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A856D5-17B9-45F7-ABE3-B5859331EE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E23A24-5E29-4F5A-B780-9568AE9A51DD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DBFDFE-B78B-4AD3-AD16-2CD4CBF737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7742" y="2573714"/>
            <a:ext cx="2317869" cy="199400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35572275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F80E801-4673-4058-A81D-52ECF4F30500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9377713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4" name="think-cell Slide" r:id="rId5" imgW="351" imgH="351" progId="TCLayout.ActiveDocument.1">
                  <p:embed/>
                </p:oleObj>
              </mc:Choice>
              <mc:Fallback>
                <p:oleObj name="think-cell Slide" r:id="rId5" imgW="351" imgH="351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F80E801-4673-4058-A81D-52ECF4F305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E7931144-3EB0-49BE-A887-F38528250C99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de-DE" sz="3600" b="1" dirty="0">
              <a:latin typeface="Segoe UI Semibold" panose="020B0702040204020203" pitchFamily="34" charset="0"/>
              <a:cs typeface="Segoe UI Semibold" panose="020B0702040204020203" pitchFamily="34" charset="0"/>
              <a:sym typeface="Segoe UI Semibold" panose="020B0702040204020203" pitchFamily="34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CFA78CE-B187-488B-88FE-3B850BFA9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de-DE" dirty="0">
                <a:sym typeface="Wingdings" panose="05000000000000000000" pitchFamily="2" charset="2"/>
              </a:rPr>
              <a:t>Depending on your setup (e.g. 1, 2 or complete Setup incl. Prod), configure the relevant Entries with the relevant ApplicationId and ClientSecret of your App Registration created in Setup 1. It is up to you/your client if you use the same Application ID for all environments. As usual, it is a best practice to separate the accounts (Dev/Test/QA/Prod).</a:t>
            </a:r>
          </a:p>
          <a:p>
            <a:endParaRPr lang="de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5B07C4E-3997-4693-A7CA-93E7B0CEF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Setup Azure DevOps (2/2)</a:t>
            </a:r>
            <a:br>
              <a:rPr lang="de-DE" dirty="0"/>
            </a:b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A856D5-17B9-45F7-ABE3-B5859331EE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E23A24-5E29-4F5A-B780-9568AE9A51DD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6D3A68-9EDB-4BEC-ACB2-19D450DD05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1336" y="3178102"/>
            <a:ext cx="3956253" cy="15875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C323A4-C17F-43E8-B085-CDF4C605404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54441" y="3019918"/>
            <a:ext cx="5073911" cy="220356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F95DF00-43FD-46CC-89C0-5F72747AB009}"/>
              </a:ext>
            </a:extLst>
          </p:cNvPr>
          <p:cNvCxnSpPr>
            <a:cxnSpLocks/>
          </p:cNvCxnSpPr>
          <p:nvPr/>
        </p:nvCxnSpPr>
        <p:spPr>
          <a:xfrm>
            <a:off x="4935415" y="3938955"/>
            <a:ext cx="46306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F982371-A306-462D-8D65-DFD5B46EEF96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4525902" y="4314092"/>
            <a:ext cx="5145636" cy="1142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99B9999-BDA6-414F-A811-04AD8FE1D832}"/>
              </a:ext>
            </a:extLst>
          </p:cNvPr>
          <p:cNvSpPr txBox="1"/>
          <p:nvPr/>
        </p:nvSpPr>
        <p:spPr>
          <a:xfrm>
            <a:off x="2267208" y="5133534"/>
            <a:ext cx="22586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Secret stored in Setup 1 – Step 3 </a:t>
            </a:r>
          </a:p>
        </p:txBody>
      </p:sp>
    </p:spTree>
    <p:extLst>
      <p:ext uri="{BB962C8B-B14F-4D97-AF65-F5344CB8AC3E}">
        <p14:creationId xmlns:p14="http://schemas.microsoft.com/office/powerpoint/2010/main" val="3651205714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3C0548-780C-4813-9B5E-641094C03D2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E23A24-5E29-4F5A-B780-9568AE9A51DD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D9485C-2BA5-4A64-8349-2EB6BCEFEE8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Setup 4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5F0951-4491-4580-947E-C6658FE2E0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Update Environment.json</a:t>
            </a:r>
          </a:p>
        </p:txBody>
      </p:sp>
    </p:spTree>
    <p:extLst>
      <p:ext uri="{BB962C8B-B14F-4D97-AF65-F5344CB8AC3E}">
        <p14:creationId xmlns:p14="http://schemas.microsoft.com/office/powerpoint/2010/main" val="4221121127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F80E801-4673-4058-A81D-52ECF4F30500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6694673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8" name="think-cell Slide" r:id="rId5" imgW="351" imgH="351" progId="TCLayout.ActiveDocument.1">
                  <p:embed/>
                </p:oleObj>
              </mc:Choice>
              <mc:Fallback>
                <p:oleObj name="think-cell Slide" r:id="rId5" imgW="351" imgH="351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F80E801-4673-4058-A81D-52ECF4F305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E7931144-3EB0-49BE-A887-F38528250C99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de-DE" sz="3600" b="1" dirty="0">
              <a:latin typeface="Segoe UI Semibold" panose="020B0702040204020203" pitchFamily="34" charset="0"/>
              <a:cs typeface="Segoe UI Semibold" panose="020B0702040204020203" pitchFamily="34" charset="0"/>
              <a:sym typeface="Segoe UI Semibold" panose="020B0702040204020203" pitchFamily="34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CFA78CE-B187-488B-88FE-3B850BFA9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The Pipelines are fetching the Connection String from the Environments.json file which is stored in the „&lt;root&gt;\src“ folder of the cloned DSSFW repository.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Open the DSS Framework Solution which was cloned to the Developer System during the System Setup.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>
                <a:sym typeface="Wingdings" panose="05000000000000000000" pitchFamily="2" charset="2"/>
              </a:rPr>
              <a:t>Open „Environments.json“ file and scroll to the bottom of the file.</a:t>
            </a:r>
          </a:p>
          <a:p>
            <a:pPr marL="457200" indent="-457200">
              <a:buFont typeface="+mj-lt"/>
              <a:buAutoNum type="arabicPeriod"/>
            </a:pPr>
            <a:endParaRPr lang="de-DE" dirty="0">
              <a:sym typeface="Wingdings" panose="05000000000000000000" pitchFamily="2" charset="2"/>
            </a:endParaRPr>
          </a:p>
          <a:p>
            <a:pPr marL="457200" indent="-457200">
              <a:buFont typeface="+mj-lt"/>
              <a:buAutoNum type="arabicPeriod"/>
            </a:pPr>
            <a:endParaRPr lang="de-DE" dirty="0">
              <a:sym typeface="Wingdings" panose="05000000000000000000" pitchFamily="2" charset="2"/>
            </a:endParaRPr>
          </a:p>
          <a:p>
            <a:pPr marL="457200" indent="-457200">
              <a:buFont typeface="+mj-lt"/>
              <a:buAutoNum type="arabicPeriod"/>
            </a:pPr>
            <a:endParaRPr lang="de-DE" dirty="0">
              <a:sym typeface="Wingdings" panose="05000000000000000000" pitchFamily="2" charset="2"/>
            </a:endParaRPr>
          </a:p>
          <a:p>
            <a:pPr marL="457200" indent="-457200">
              <a:buFont typeface="+mj-lt"/>
              <a:buAutoNum type="arabicPeriod"/>
            </a:pPr>
            <a:endParaRPr lang="de-DE" dirty="0">
              <a:sym typeface="Wingdings" panose="05000000000000000000" pitchFamily="2" charset="2"/>
            </a:endParaRPr>
          </a:p>
          <a:p>
            <a:pPr marL="457200" indent="-457200">
              <a:buFont typeface="+mj-lt"/>
              <a:buAutoNum type="arabicPeriod"/>
            </a:pPr>
            <a:endParaRPr lang="de-DE" dirty="0">
              <a:sym typeface="Wingdings" panose="05000000000000000000" pitchFamily="2" charset="2"/>
            </a:endParaRPr>
          </a:p>
          <a:p>
            <a:pPr marL="457200" indent="-457200">
              <a:buFont typeface="+mj-lt"/>
              <a:buAutoNum type="arabicPeriod"/>
            </a:pPr>
            <a:endParaRPr lang="de-DE" dirty="0">
              <a:sym typeface="Wingdings" panose="05000000000000000000" pitchFamily="2" charset="2"/>
            </a:endParaRPr>
          </a:p>
          <a:p>
            <a:endParaRPr lang="de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5B07C4E-3997-4693-A7CA-93E7B0CEF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Setup Environments.json (1/2)</a:t>
            </a:r>
            <a:br>
              <a:rPr lang="de-DE" dirty="0"/>
            </a:b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A856D5-17B9-45F7-ABE3-B5859331EE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E23A24-5E29-4F5A-B780-9568AE9A51DD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3505A8-3E92-47D4-B018-084CDD1F19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1376" y="3495543"/>
            <a:ext cx="10701195" cy="1967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081370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F80E801-4673-4058-A81D-52ECF4F30500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205240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2" name="think-cell Slide" r:id="rId5" imgW="351" imgH="351" progId="TCLayout.ActiveDocument.1">
                  <p:embed/>
                </p:oleObj>
              </mc:Choice>
              <mc:Fallback>
                <p:oleObj name="think-cell Slide" r:id="rId5" imgW="351" imgH="351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F80E801-4673-4058-A81D-52ECF4F305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E7931144-3EB0-49BE-A887-F38528250C99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de-DE" sz="3600" b="1" dirty="0">
              <a:latin typeface="Segoe UI Semibold" panose="020B0702040204020203" pitchFamily="34" charset="0"/>
              <a:cs typeface="Segoe UI Semibold" panose="020B0702040204020203" pitchFamily="34" charset="0"/>
              <a:sym typeface="Segoe UI Semibold" panose="020B0702040204020203" pitchFamily="34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CFA78CE-B187-488B-88FE-3B850BFA9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376" y="1524000"/>
            <a:ext cx="10783229" cy="4595446"/>
          </a:xfrm>
        </p:spPr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de-DE" dirty="0"/>
              <a:t>The ConnectionString must be in the format:</a:t>
            </a:r>
          </a:p>
          <a:p>
            <a:r>
              <a:rPr lang="de-DE" sz="1400" dirty="0"/>
              <a:t>AuthType=ClientSecret;url=https://YOURORG.crm.dynamics.com;ClientId=YOURID;ClientSecret=YOURSECRET</a:t>
            </a:r>
          </a:p>
          <a:p>
            <a:r>
              <a:rPr lang="de-DE" dirty="0">
                <a:sym typeface="Wingdings" panose="05000000000000000000" pitchFamily="2" charset="2"/>
              </a:rPr>
              <a:t>Secret and Client must be in the format {{value-from-library-in-devops}}. For example: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CustomizationMasterId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CustomizationMasterSecret</a:t>
            </a:r>
            <a:endParaRPr lang="de-DE" dirty="0">
              <a:sym typeface="Wingdings" panose="05000000000000000000" pitchFamily="2" charset="2"/>
            </a:endParaRPr>
          </a:p>
          <a:p>
            <a:endParaRPr lang="de-DE" dirty="0">
              <a:sym typeface="Wingdings" panose="05000000000000000000" pitchFamily="2" charset="2"/>
            </a:endParaRPr>
          </a:p>
          <a:p>
            <a:pPr marL="457200" indent="-457200">
              <a:buFont typeface="+mj-lt"/>
              <a:buAutoNum type="arabicPeriod"/>
            </a:pPr>
            <a:endParaRPr lang="de-DE" dirty="0">
              <a:sym typeface="Wingdings" panose="05000000000000000000" pitchFamily="2" charset="2"/>
            </a:endParaRPr>
          </a:p>
          <a:p>
            <a:pPr marL="457200" indent="-457200">
              <a:buFont typeface="+mj-lt"/>
              <a:buAutoNum type="arabicPeriod"/>
            </a:pPr>
            <a:endParaRPr lang="de-DE" dirty="0">
              <a:sym typeface="Wingdings" panose="05000000000000000000" pitchFamily="2" charset="2"/>
            </a:endParaRPr>
          </a:p>
          <a:p>
            <a:pPr marL="457200" indent="-457200">
              <a:buFont typeface="+mj-lt"/>
              <a:buAutoNum type="arabicPeriod"/>
            </a:pPr>
            <a:endParaRPr lang="de-DE" dirty="0">
              <a:sym typeface="Wingdings" panose="05000000000000000000" pitchFamily="2" charset="2"/>
            </a:endParaRPr>
          </a:p>
          <a:p>
            <a:pPr marL="457200" indent="-457200">
              <a:buFont typeface="+mj-lt"/>
              <a:buAutoNum type="arabicPeriod"/>
            </a:pPr>
            <a:endParaRPr lang="de-DE" dirty="0">
              <a:sym typeface="Wingdings" panose="05000000000000000000" pitchFamily="2" charset="2"/>
            </a:endParaRPr>
          </a:p>
          <a:p>
            <a:pPr marL="457200" indent="-457200">
              <a:buFont typeface="+mj-lt"/>
              <a:buAutoNum type="arabicPeriod" startAt="4"/>
            </a:pPr>
            <a:r>
              <a:rPr lang="de-DE" dirty="0">
                <a:sym typeface="Wingdings" panose="05000000000000000000" pitchFamily="2" charset="2"/>
              </a:rPr>
              <a:t>As last step, this change must be pushed to the GIT branch (most likely Master during your initial Setup).</a:t>
            </a:r>
          </a:p>
          <a:p>
            <a:endParaRPr lang="de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5B07C4E-3997-4693-A7CA-93E7B0CEF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Setup Environments.json (2/2)</a:t>
            </a:r>
            <a:br>
              <a:rPr lang="de-DE" dirty="0"/>
            </a:b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A856D5-17B9-45F7-ABE3-B5859331EE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E23A24-5E29-4F5A-B780-9568AE9A51DD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FCC2BB-DDE1-46CF-A92E-0318AE46FD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2103" y="3603829"/>
            <a:ext cx="3181514" cy="154948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237075002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B9B9C362-20EA-42D1-9821-28C7D00BFE8D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214278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6" name="think-cell Slide" r:id="rId4" imgW="351" imgH="351" progId="TCLayout.ActiveDocument.1">
                  <p:embed/>
                </p:oleObj>
              </mc:Choice>
              <mc:Fallback>
                <p:oleObj name="think-cell Slide" r:id="rId4" imgW="351" imgH="351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B9B9C362-20EA-42D1-9821-28C7D00BFE8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F6958D-BBDD-3347-9452-C34BDAADE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9D37695-F3C3-064B-872B-E0C2A5DD0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DDFA6E-FBA2-7640-B7CF-95AD008B93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E23A24-5E29-4F5A-B780-9568AE9A51DD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932882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Yvz9rGlnz6i4mMMLBuvG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bF1kxM1QaWdRsYe_Rv6_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bF1kxM1QaWdRsYe_Rv6_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bF1kxM1QaWdRsYe_Rv6_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bF1kxM1QaWdRsYe_Rv6_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bF1kxM1QaWdRsYe_Rv6_A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bF1kxM1QaWdRsYe_Rv6_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bF1kxM1QaWdRsYe_Rv6_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bF1kxM1QaWdRsYe_Rv6_A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FYFBzQhZ.KB2lR8rliV_A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FYFBzQhZ.KB2lR8rliV_A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FYFBzQhZ.KB2lR8rliV_A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FYFBzQhZ.KB2lR8rliV_A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Highly Confidential">
  <a:themeElements>
    <a:clrScheme name="Avanade FY17">
      <a:dk1>
        <a:srgbClr val="595959"/>
      </a:dk1>
      <a:lt1>
        <a:sysClr val="window" lastClr="FFFFFF"/>
      </a:lt1>
      <a:dk2>
        <a:srgbClr val="FF5800"/>
      </a:dk2>
      <a:lt2>
        <a:srgbClr val="E7E6E6"/>
      </a:lt2>
      <a:accent1>
        <a:srgbClr val="FF5800"/>
      </a:accent1>
      <a:accent2>
        <a:srgbClr val="CE056A"/>
      </a:accent2>
      <a:accent3>
        <a:srgbClr val="C80000"/>
      </a:accent3>
      <a:accent4>
        <a:srgbClr val="FFB414"/>
      </a:accent4>
      <a:accent5>
        <a:srgbClr val="47800A"/>
      </a:accent5>
      <a:accent6>
        <a:srgbClr val="008376"/>
      </a:accent6>
      <a:hlink>
        <a:srgbClr val="FF5800"/>
      </a:hlink>
      <a:folHlink>
        <a:srgbClr val="890078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1 Solar PPT Template" id="{D6955670-6C6F-8D42-B858-1A54C5A028BE}" vid="{7A8938F7-2899-414E-B15A-F624CD24E6B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591A36ACC479479315BEFF24FB6241" ma:contentTypeVersion="14" ma:contentTypeDescription="Create a new document." ma:contentTypeScope="" ma:versionID="3aecb66c748111e0b6612eb9f7bc5f68">
  <xsd:schema xmlns:xsd="http://www.w3.org/2001/XMLSchema" xmlns:xs="http://www.w3.org/2001/XMLSchema" xmlns:p="http://schemas.microsoft.com/office/2006/metadata/properties" xmlns:ns1="http://schemas.microsoft.com/sharepoint/v3" xmlns:ns2="a80768ae-540b-46cd-a16e-9d0004e037e8" xmlns:ns3="47c02ccb-a898-40e4-a657-43a607206a14" targetNamespace="http://schemas.microsoft.com/office/2006/metadata/properties" ma:root="true" ma:fieldsID="1eeb3a6d9b02bd846bef3c0f9587da88" ns1:_="" ns2:_="" ns3:_="">
    <xsd:import namespace="http://schemas.microsoft.com/sharepoint/v3"/>
    <xsd:import namespace="a80768ae-540b-46cd-a16e-9d0004e037e8"/>
    <xsd:import namespace="47c02ccb-a898-40e4-a657-43a607206a14"/>
    <xsd:element name="properties">
      <xsd:complexType>
        <xsd:sequence>
          <xsd:element name="documentManagement">
            <xsd:complexType>
              <xsd:all>
                <xsd:element ref="ns1:_ip_UnifiedCompliancePolicyProperties" minOccurs="0"/>
                <xsd:element ref="ns1:_ip_UnifiedCompliancePolicyUIAction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EventHashCode" minOccurs="0"/>
                <xsd:element ref="ns2:MediaServiceGenerationTime" minOccurs="0"/>
                <xsd:element ref="ns2:MediaServiceLocation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0768ae-540b-46cd-a16e-9d0004e037e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MediaServiceAutoTags" ma:internalName="MediaServiceAutoTags" ma:readOnly="true">
      <xsd:simpleType>
        <xsd:restriction base="dms:Text"/>
      </xsd:simpleType>
    </xsd:element>
    <xsd:element name="MediaServiceOCR" ma:index="16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c02ccb-a898-40e4-a657-43a607206a1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608383D-A2BE-4843-A4DA-EA419C73B1A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1299E8E9-4579-4E77-BBB4-7466CAD2F17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71FE576-4F42-4E2D-812B-95E30349F9B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a80768ae-540b-46cd-a16e-9d0004e037e8"/>
    <ds:schemaRef ds:uri="47c02ccb-a898-40e4-a657-43a607206a1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01 Solar PPT Template</Template>
  <TotalTime>0</TotalTime>
  <Words>1027</Words>
  <Application>Microsoft Office PowerPoint</Application>
  <PresentationFormat>Widescreen</PresentationFormat>
  <Paragraphs>149</Paragraphs>
  <Slides>20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Segoe UI</vt:lpstr>
      <vt:lpstr>Segoe UI Light</vt:lpstr>
      <vt:lpstr>Segoe UI Semibold</vt:lpstr>
      <vt:lpstr>Highly Confidential</vt:lpstr>
      <vt:lpstr>think-cell Slide</vt:lpstr>
      <vt:lpstr>PowerPoint Presentation</vt:lpstr>
      <vt:lpstr>Introduction</vt:lpstr>
      <vt:lpstr>Prerequisites</vt:lpstr>
      <vt:lpstr>PowerPoint Presentation</vt:lpstr>
      <vt:lpstr>Steps - Active Directory (1/6)</vt:lpstr>
      <vt:lpstr>Steps - Active Directory (2/6)</vt:lpstr>
      <vt:lpstr>Steps - Active Directory (3/6)</vt:lpstr>
      <vt:lpstr>Steps - Active Directory (4/6)</vt:lpstr>
      <vt:lpstr>Steps - Active Directory (5/6)</vt:lpstr>
      <vt:lpstr>Steps - Active Directory (6/6)</vt:lpstr>
      <vt:lpstr>PowerPoint Presentation</vt:lpstr>
      <vt:lpstr>Steps – D365 CE Application User Setup (1/2)</vt:lpstr>
      <vt:lpstr>Steps – D365 CE Application User Setup (2/2)</vt:lpstr>
      <vt:lpstr>PowerPoint Presentation</vt:lpstr>
      <vt:lpstr>Setup Azure DevOps (1/2) </vt:lpstr>
      <vt:lpstr>Setup Azure DevOps (2/2) </vt:lpstr>
      <vt:lpstr>PowerPoint Presentation</vt:lpstr>
      <vt:lpstr>Setup Environments.json (1/2) </vt:lpstr>
      <vt:lpstr>Setup Environments.json (2/2) </vt:lpstr>
      <vt:lpstr>Backup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2020-03-30T12:31:39Z</dcterms:created>
  <dcterms:modified xsi:type="dcterms:W3CDTF">2020-10-16T09:18:05Z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36020b0-6d69-48c1-9bb5-c586c1062b70_Enabled">
    <vt:lpwstr>True</vt:lpwstr>
  </property>
  <property fmtid="{D5CDD505-2E9C-101B-9397-08002B2CF9AE}" pid="3" name="MSIP_Label_236020b0-6d69-48c1-9bb5-c586c1062b70_SiteId">
    <vt:lpwstr>cf36141c-ddd7-45a7-b073-111f66d0b30c</vt:lpwstr>
  </property>
  <property fmtid="{D5CDD505-2E9C-101B-9397-08002B2CF9AE}" pid="4" name="MSIP_Label_236020b0-6d69-48c1-9bb5-c586c1062b70_Owner">
    <vt:lpwstr>courteney.malon@avanade.com</vt:lpwstr>
  </property>
  <property fmtid="{D5CDD505-2E9C-101B-9397-08002B2CF9AE}" pid="5" name="MSIP_Label_236020b0-6d69-48c1-9bb5-c586c1062b70_SetDate">
    <vt:lpwstr>2018-12-20T17:57:52.8924816Z</vt:lpwstr>
  </property>
  <property fmtid="{D5CDD505-2E9C-101B-9397-08002B2CF9AE}" pid="6" name="MSIP_Label_236020b0-6d69-48c1-9bb5-c586c1062b70_Name">
    <vt:lpwstr>Confidential</vt:lpwstr>
  </property>
  <property fmtid="{D5CDD505-2E9C-101B-9397-08002B2CF9AE}" pid="7" name="MSIP_Label_236020b0-6d69-48c1-9bb5-c586c1062b70_Application">
    <vt:lpwstr>Microsoft Azure Information Protection</vt:lpwstr>
  </property>
  <property fmtid="{D5CDD505-2E9C-101B-9397-08002B2CF9AE}" pid="8" name="MSIP_Label_236020b0-6d69-48c1-9bb5-c586c1062b70_Extended_MSFT_Method">
    <vt:lpwstr>Automatic</vt:lpwstr>
  </property>
  <property fmtid="{D5CDD505-2E9C-101B-9397-08002B2CF9AE}" pid="9" name="MSIP_Label_5fae8262-b78e-4366-8929-a5d6aac95320_Enabled">
    <vt:lpwstr>True</vt:lpwstr>
  </property>
  <property fmtid="{D5CDD505-2E9C-101B-9397-08002B2CF9AE}" pid="10" name="MSIP_Label_5fae8262-b78e-4366-8929-a5d6aac95320_SiteId">
    <vt:lpwstr>cf36141c-ddd7-45a7-b073-111f66d0b30c</vt:lpwstr>
  </property>
  <property fmtid="{D5CDD505-2E9C-101B-9397-08002B2CF9AE}" pid="11" name="MSIP_Label_5fae8262-b78e-4366-8929-a5d6aac95320_SetDate">
    <vt:lpwstr>2018-12-20T17:57:52.8924816Z</vt:lpwstr>
  </property>
  <property fmtid="{D5CDD505-2E9C-101B-9397-08002B2CF9AE}" pid="12" name="MSIP_Label_5fae8262-b78e-4366-8929-a5d6aac95320_Name">
    <vt:lpwstr>Recipients Have Full Control</vt:lpwstr>
  </property>
  <property fmtid="{D5CDD505-2E9C-101B-9397-08002B2CF9AE}" pid="13" name="MSIP_Label_5fae8262-b78e-4366-8929-a5d6aac95320_Extended_MSFT_Method">
    <vt:lpwstr>Automatic</vt:lpwstr>
  </property>
  <property fmtid="{D5CDD505-2E9C-101B-9397-08002B2CF9AE}" pid="14" name="Sensitivity">
    <vt:lpwstr>Confidential Recipients Have Full Control</vt:lpwstr>
  </property>
  <property fmtid="{D5CDD505-2E9C-101B-9397-08002B2CF9AE}" pid="15" name="ContentTypeId">
    <vt:lpwstr>0x010100AF591A36ACC479479315BEFF24FB6241</vt:lpwstr>
  </property>
</Properties>
</file>